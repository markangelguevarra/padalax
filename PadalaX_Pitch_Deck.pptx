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371600"/>
            <a:ext cx="4389120" cy="411480"/>
          </a:xfrm>
          <a:prstGeom prst="roundRect">
            <a:avLst/>
          </a:prstGeom>
          <a:solidFill>
            <a:srgbClr val="062D3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Arial"/>
              </a:defRPr>
            </a:pPr>
            <a:r>
              <a:t>STELLAR RISEIN • LEVEL 5 BLUE BELT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9784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PadalaX Protocol</a:t>
            </a:r>
          </a:p>
          <a:p>
            <a:pPr>
              <a:defRPr sz="2200" b="1">
                <a:solidFill>
                  <a:srgbClr val="06B6D4"/>
                </a:solidFill>
                <a:latin typeface="Arial"/>
              </a:defRPr>
            </a:pPr>
            <a:r>
              <a:t>Decentralized Cross-Border Remittance &amp; Voucher Escrow on Stellar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Arial"/>
              </a:defRPr>
            </a:pPr>
            <a:r>
              <a:t>Slashing international remittance fees from traditional 8% down to &lt; $0.001 with sub-5-second settlement. Senders lock cryptographic vouchers in Soroban smart contracts; unbanked families cash out directly to GCash, Maya, and local bank accounts.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937760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Live App: padalax.vercel.app  •  GitHub: github.com/MarkAngelGuevarra/padalax  •  Author: Mark Guevarra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MARKET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Problem: The $2.2 Billion Annual Predatory Fee Drain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438912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2880360" cy="365760"/>
          </a:xfrm>
          <a:prstGeom prst="roundRect">
            <a:avLst/>
          </a:prstGeom>
          <a:solidFill>
            <a:srgbClr val="1E1423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43F5E"/>
                </a:solidFill>
              </a:defRPr>
            </a:pPr>
            <a:r>
              <a:t>PAIN POINT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Predatory 5%-8.5% Fees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880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Traditional money transfer operators (Western Union, MoneyGram, banks) extract massive cuts from hard-earned OFW wages, draining families of essential capital.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554480"/>
            <a:ext cx="3429000" cy="438912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36008" y="1828800"/>
            <a:ext cx="2880360" cy="365760"/>
          </a:xfrm>
          <a:prstGeom prst="roundRect">
            <a:avLst/>
          </a:prstGeom>
          <a:solidFill>
            <a:srgbClr val="231E14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PAIN POINT #2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37744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Slow 24-72 Hour Clearance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200400"/>
            <a:ext cx="2880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Legacy wire transfers and bank corridors take days to settle. Families experiencing medical, tuition, or food emergencies are stranded waiting for confirmations.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554480"/>
            <a:ext cx="3429000" cy="438912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66176" y="1828800"/>
            <a:ext cx="2880360" cy="365760"/>
          </a:xfrm>
          <a:prstGeom prst="roundRect">
            <a:avLst/>
          </a:prstGeom>
          <a:solidFill>
            <a:srgbClr val="0F232D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PAIN POINT #3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237744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44% Unbanked Divide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3200400"/>
            <a:ext cx="2880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Over 44% of Filipino adults lack traditional bank accounts or Web3 crypto wallets, creating severe onboarding friction for non-technical recipients in provinces.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Solution: Cryptographic Vouchers &amp; Instant Fiat Settlement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438912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2880360" cy="365760"/>
          </a:xfrm>
          <a:prstGeom prst="roundRect">
            <a:avLst/>
          </a:prstGeom>
          <a:solidFill>
            <a:srgbClr val="0A231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CORE ADVANTAGE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Sub-Cent Remittance Fees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880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Slashes transaction fees from $15-$35 down to &lt; 0.00001 XLM (&lt; $0.001) per transfer. OFWs keep 99.99% of their money.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554480"/>
            <a:ext cx="3429000" cy="438912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36008" y="1828800"/>
            <a:ext cx="2880360" cy="365760"/>
          </a:xfrm>
          <a:prstGeom prst="roundRect">
            <a:avLst/>
          </a:prstGeom>
          <a:solidFill>
            <a:srgbClr val="0F192D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CORE ADVANTAGE #2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37744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Sub-5-Second Settlement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200400"/>
            <a:ext cx="2880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Powered by the Stellar Consensus Protocol (SCP). Funds arrive in Manila within seconds, not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554480"/>
            <a:ext cx="3429000" cy="438912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66176" y="1828800"/>
            <a:ext cx="2880360" cy="365760"/>
          </a:xfrm>
          <a:prstGeom prst="roundRect">
            <a:avLst/>
          </a:prstGeom>
          <a:solidFill>
            <a:srgbClr val="0F232D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CORE ADVANTAGE #3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237744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Secret PIN Voucher Escrow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3200400"/>
            <a:ext cx="2880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Senders lock funds into Soroban with SHA-256 hashlocks. Recipients claim via WhatsApp/SMS PIN directly to GCash/Maya with 100% time-locked autonomous refund.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GLOBAL 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Market Opportunity: $37.2 Billion Inflow &amp; 10M+ OFWs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Philippines Remittance Market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$37.2 BILLION</a:t>
            </a:r>
          </a:p>
          <a:p>
            <a:pPr>
              <a:defRPr sz="1300">
                <a:solidFill>
                  <a:srgbClr val="10B981"/>
                </a:solidFill>
              </a:defRPr>
            </a:pPr>
            <a:r>
              <a:t>Annual Inflows (Top 4 Globally)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10M+ Overseas Filipino Workers worldwide</a:t>
            </a:r>
            <a:br/>
            <a:r>
              <a:t>• $2.2B Lost Annually to intermediary fees</a:t>
            </a:r>
            <a:br/>
            <a:r>
              <a:t>• 76M+ Active GCash &amp; Maya accounts ready for instant SEP-24 mobile off-ramping.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554480"/>
            <a:ext cx="2578608" cy="214884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691639"/>
            <a:ext cx="230428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UAE &amp; Saudi Arabia</a:t>
            </a: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42% of Global OFW Remittances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Primary corridor for nurses, construction engineers, and domestic professionals.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50808" y="1554480"/>
            <a:ext cx="2578608" cy="214884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87968" y="1691639"/>
            <a:ext cx="230428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Singapore &amp; Hong Kong</a:t>
            </a: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28% of Regional Inflows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High-frequency monthly allowance senders with smartphone literacy.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794760"/>
            <a:ext cx="2578608" cy="214884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931920"/>
            <a:ext cx="230428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USA &amp; Canada</a:t>
            </a: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20% of High-Ticket Transfers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College tuition, real estate amortization, and medical support.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50808" y="3794760"/>
            <a:ext cx="2578608" cy="214884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87968" y="3931920"/>
            <a:ext cx="230428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UK &amp; Europe</a:t>
            </a: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10% of European Corridor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Growing healthcare and maritime seafarer population.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System Architecture: Soroban Token Escrow &amp; SHA-256 Hashlocks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292608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1. OFW Sender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Connects Freighter/Albedo</a:t>
            </a:r>
            <a:br/>
            <a:r>
              <a:t>Selects Amount (XLM/USDC)</a:t>
            </a:r>
            <a:br/>
            <a:r>
              <a:t>Calculates Live PHP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554480"/>
            <a:ext cx="2560320" cy="292608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7373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2. Soroban Escrow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Contract ID: CATUXAJ7...</a:t>
            </a:r>
            <a:br/>
            <a:r>
              <a:t>Real token::Client Transfer</a:t>
            </a:r>
            <a:br/>
            <a:r>
              <a:t>DataKey::Remittance(id)</a:t>
            </a:r>
            <a:br/>
            <a:r>
              <a:t>extend_ttl Persistence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554480"/>
            <a:ext cx="2560320" cy="292608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7373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3. Secret PIN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SHA-256 Preimage Hash</a:t>
            </a:r>
            <a:br/>
            <a:r>
              <a:t>One-time 6-digit Claim PIN</a:t>
            </a:r>
            <a:br/>
            <a:r>
              <a:t>1-Click WhatsApp/Telegram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554480"/>
            <a:ext cx="2560320" cy="292608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7373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4. Recipient Payout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Zero-Gas Web Claim</a:t>
            </a:r>
            <a:br/>
            <a:r>
              <a:t>Instant GCash / Maya Payout</a:t>
            </a:r>
            <a:br/>
            <a:r>
              <a:t>Or Autonomous Sender Refund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09160"/>
            <a:ext cx="10728655" cy="128016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80060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Security &amp; Invariants Verified on Testnet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6/6 Rust Unit Tests Passing (test_create_and_claim, test_refund_after_expiration, unauthorized attack panics)</a:t>
            </a:r>
            <a:br/>
            <a:r>
              <a:t>• Autonomous Time-Locked Refund: Senders retain 100% cryptographic authority to claw back unclaimed expired vouchers.</a:t>
            </a:r>
            <a:br/>
            <a:r>
              <a:t>• Storage Footprint &amp; TTL Optimization: Storage bumps configured to protect persistent ledger 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LEVEL 5 VALIDATION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Traction &amp; Pilot Validation: 50+ Verified On-Chain 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438912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50+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Verified Pilot Users</a:t>
            </a:r>
          </a:p>
          <a:p>
            <a:br/>
            <a:pPr>
              <a:defRPr sz="1100">
                <a:solidFill>
                  <a:srgbClr val="E2E8F0"/>
                </a:solidFill>
              </a:defRPr>
            </a:pPr>
            <a:r>
              <a:t>Onboarded across 25 global OFW cities (Dubai, Riyadh, Singapore, Tokyo, London, Toronto)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554480"/>
            <a:ext cx="2560320" cy="438912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8288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Transaction Success</a:t>
            </a:r>
          </a:p>
          <a:p>
            <a:br/>
            <a:pPr>
              <a:defRPr sz="1100">
                <a:solidFill>
                  <a:srgbClr val="E2E8F0"/>
                </a:solidFill>
              </a:defRPr>
            </a:pPr>
            <a:r>
              <a:t>50/50 on-chain remittance escrows confirmed on Stellar Testnet Horizon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554480"/>
            <a:ext cx="2560320" cy="438912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8288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9E0B"/>
                </a:solidFill>
              </a:defRPr>
            </a:pPr>
            <a:r>
              <a:t>4.85 / 5.0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Avg User Satisfaction</a:t>
            </a:r>
          </a:p>
          <a:p>
            <a:br/>
            <a:pPr>
              <a:defRPr sz="1100">
                <a:solidFill>
                  <a:srgbClr val="E2E8F0"/>
                </a:solidFill>
              </a:defRPr>
            </a:pPr>
            <a:r>
              <a:t>Collected via structured Google Form feedback surveys across all 50 participants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554480"/>
            <a:ext cx="2560320" cy="438912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8288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PHP 34,500+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Fees Saved in Pilot</a:t>
            </a:r>
          </a:p>
          <a:p>
            <a:br/>
            <a:pPr>
              <a:defRPr sz="1100">
                <a:solidFill>
                  <a:srgbClr val="E2E8F0"/>
                </a:solidFill>
              </a:defRPr>
            </a:pPr>
            <a:r>
              <a:t>Compared to standard 6.5% traditional remittance center charges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FEEDBACK-DRIVEN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Product Iteration: Built Directly From User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105156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Feedback 1: Multi-Family Allowance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User Request: Users needed to send money to multiple family members at once.  --&gt;  Implemented: Multi-Recipient Batch Remittance: Create up to 5 vouchers in 1 flow (Commit a8627a6).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728655" cy="105156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Feedback 2: Currency Conversion Friction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User Request: OFWs in UAE/Saudi struggled with manual AED/SAR to PHP math.  --&gt;  Implemented: Live Multi-Fiat FX Ticker: Real-time rates &amp; mini-estimator for 10 currencies (Commit f4e1d17).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Feedback 3: Messaging App Sharing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User Request: Copying links was cumbersome for non-technical parents.  --&gt;  Implemented: 1-Click WhatsApp &amp; Telegram Share: Direct voucher link dispatch &amp; PDF receipt (Commit 7767804).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3480"/>
            <a:ext cx="10728655" cy="1051560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Feedback 4: Error Telemetry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User Request: Required monitoring for wallet disconnections and RPC failures.  --&gt;  Implemented: Vercel Analytics &amp; Error Boundary: Embedded root telemetry (Commit 2e165cb).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Roadmap: Path to Mainnet &amp; Ecosystem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841248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Levels 1-3 (White, Yellow, Orange)  •  [ACCEPTED]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Stellar SDK, Soroban Escrow Contract, 6 Unit Tests, Testnet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87168"/>
            <a:ext cx="10728655" cy="841248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Level 4 (Green Belt)  •  [COMPLETED]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Production Web3 PWA on Vercel, Vercel Analytics, 12 Pilot Users Onboarded.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19856"/>
            <a:ext cx="10728655" cy="841248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9300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Level 5 (Blue Belt)  •  [SUBMITTED]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50+ Real Verified Testnet Users, Batch Remittance, Multi-Fiat FX Ticker, Pitch Deck.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52544"/>
            <a:ext cx="10728655" cy="841248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25696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Level 6 (Black Belt)  •  [NEXT PHASE]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Stellar Mainnet Deployment &amp; Gasless Relayer Fee Sponsorship.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85232"/>
            <a:ext cx="10728655" cy="841248"/>
          </a:xfrm>
          <a:prstGeom prst="roundRect">
            <a:avLst/>
          </a:prstGeom>
          <a:solidFill>
            <a:srgbClr val="121A2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58384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Level 7 (Master Track)  •  [VISION]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Live SEP-24 Regulated Off-Ramping with Philippine Banking Anchors (GCash &amp; Maya).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